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opportunity" id="{37cd08d4-9f18-e098-0260-6b7a39ebba4b}">
          <p14:sldIdLst>
            <p14:sldId id="256"/>
            <p14:sldId id="257"/>
          </p14:sldIdLst>
        </p14:section>
        <p14:section name="The project" id="{800c933f-777a-a181-ed23-771ac8b170e5}">
          <p14:sldIdLst>
            <p14:sldId id="258"/>
            <p14:sldId id="259"/>
            <p14:sldId id="260"/>
          </p14:sldIdLst>
        </p14:section>
        <p14:section name="Impact and the ask" id="{b68963a6-9148-839d-aeb5-2b87ef49ef1e}">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Good morning. I’m [name] from Prime Cane Group. In the next three minutes I’ll show you how cane that is already growing at Mkwasine can become fuel for Zimbabwe’s E20 blend, and why we are asking for a twenty-million-dollar, Government-guaranteed term loan to build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The market is created by law. Petrol must carry 20% local ethanol, and Cabinet wants national output to grow from about 155 to 600 million litres a year by 2035. Only two producers supply it today, and the blend has fallen back to E5 when supply ran short. Our Phase 1 adds about 29 million litres, roughly 15% of national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No new planting has to succeed before the plant earns. Outgrowers at Mkwasine already grow the cane, and today they haul it on a 120-kilometre round trip. A modular plant inside the estate crushes about 1,750 tonnes a day and turns it into 23 million litres of fuel ethanol and almost 6 million litres of ENA a year. It is built in under two years, and runs on its own bagasse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At full run the plant earns about 34 million dollars of revenue and 8.3 million of EBITDA a year. Debt service cover never falls below 1.37 times, and the loan is fully repaid by 2035. That is after tax, working capital, maintenance and a six-month reserve. We price fuel ethanol at the ZERA rate and ENA at import parity, not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We have stress-tested the model honestly. Operations hold up well; the real risk is price. If the fuel ethanol price fell 15%, cover would drop below one. So we are building protection into the contracts: a price floor in the offtake, a cane price that moves with the ethanol price so growers share the risk, and a fixed-price plant contract with a yield guarantee. With 25% sponsor equity, cover rises to 1.8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The value stays here. About 21 million dollars a year goes to several hundred indigenous outgrowers, who also save on haulage. Every year we displace about 23 million litres of imported petrol, saving foreign currency, and we create about 100 permanent jobs in Chiredzi, with around 50 more in each crushing season. The plant runs on its own bagasse and discharges no liquid effluent.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So our ask is simple. From Afreximbank, a twenty-million-dollar, nine-year term loan with three years’ grace on principal, backed by a Government guarantee. From the Ministry, your endorsement and support for the guarantee, an outgrower cane supply framework, and help with the water permit and land tenure. With that, we can reach financial close in the first quarter of 2027 and crush our first cane in April 2029.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ALT">
    <p:bg>
      <p:bgPr>
        <a:solidFill>
          <a:schemeClr val="accent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algn="l" indent="0" marL="0">
              <a:buNone/>
              <a:defRPr lang="en-US" sz="1200" b="1" spc="3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rtlCol="0"/>
          <a:lstStyle>
            <a:lvl1pPr algn="l" indent="0" marL="0">
              <a:lnSpc>
                <a:spcPct val="95000"/>
              </a:lnSpc>
              <a:buNone/>
              <a:defRPr lang="en-US" sz="3600" b="1" dirty="0">
                <a:solidFill>
                  <a:schemeClr val="bg1"/>
                </a:solidFill>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RAND">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algn="l" indent="0" marL="0">
              <a:buNone/>
              <a:defRPr lang="en-US" sz="1200" b="1" spc="3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rtlCol="0"/>
          <a:lstStyle>
            <a:lvl1pPr algn="l" indent="0" marL="0">
              <a:lnSpc>
                <a:spcPct val="95000"/>
              </a:lnSpc>
              <a:buNone/>
              <a:defRPr lang="en-US" sz="3600" b="1" dirty="0">
                <a:solidFill>
                  <a:schemeClr val="bg1"/>
                </a:solidFill>
              </a:defRPr>
            </a:lvl1pPr>
          </a:lstStyle>
          <a:p>
            <a:pPr algn="l" indent="0" marL="0">
              <a:lnSpc>
                <a:spcPct val="95000"/>
              </a:lnSpc>
              <a:buNone/>
            </a:pPr>
            <a:endParaRPr lang="en-US" sz="3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ime Cane Group sugarcane emblem">    </p:cNvPr>
          <p:cNvPicPr>
            <a:picLocks noChangeAspect="1"/>
          </p:cNvPicPr>
          <p:nvPr/>
        </p:nvPicPr>
        <p:blipFill>
          <a:blip r:embed="rId1"/>
          <a:stretch>
            <a:fillRect/>
          </a:stretch>
        </p:blipFill>
        <p:spPr>
          <a:xfrm>
            <a:off x="813816" y="502920"/>
            <a:ext cx="713232" cy="713232"/>
          </a:xfrm>
          <a:prstGeom prst="rect">
            <a:avLst/>
          </a:prstGeom>
        </p:spPr>
      </p:pic>
      <p:sp>
        <p:nvSpPr>
          <p:cNvPr id="3" name="Brand"/>
          <p:cNvSpPr txBox="1"/>
          <p:nvPr/>
        </p:nvSpPr>
        <p:spPr>
          <a:xfrm>
            <a:off x="1709928" y="713232"/>
            <a:ext cx="5486400" cy="320040"/>
          </a:xfrm>
          <a:prstGeom prst="rect">
            <a:avLst/>
          </a:prstGeom>
          <a:noFill/>
          <a:ln/>
        </p:spPr>
        <p:txBody>
          <a:bodyPr wrap="square" lIns="0" tIns="0" rIns="0" bIns="0" rtlCol="0" anchor="ctr"/>
          <a:lstStyle/>
          <a:p>
            <a:pPr indent="0" marL="0">
              <a:buNone/>
            </a:pPr>
            <a:r>
              <a:rPr lang="en-US" sz="1400" b="1" spc="400" kern="0" dirty="0">
                <a:solidFill>
                  <a:schemeClr val="accent2"/>
                </a:solidFill>
              </a:rPr>
              <a:t>PRIME CANE GROUP</a:t>
            </a:r>
            <a:endParaRPr lang="en-US" sz="1400" dirty="0"/>
          </a:p>
        </p:txBody>
      </p:sp>
      <p:sp>
        <p:nvSpPr>
          <p:cNvPr id="4" name="Eyebrow"/>
          <p:cNvSpPr txBox="1"/>
          <p:nvPr/>
        </p:nvSpPr>
        <p:spPr>
          <a:xfrm>
            <a:off x="813816" y="1783080"/>
            <a:ext cx="10564063"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FINANCING PROPOSAL · OCTOBER 2026</a:t>
            </a:r>
            <a:endParaRPr lang="en-US" sz="1400" dirty="0"/>
          </a:p>
        </p:txBody>
      </p:sp>
      <p:sp>
        <p:nvSpPr>
          <p:cNvPr id="5" name="Title"/>
          <p:cNvSpPr txBox="1"/>
          <p:nvPr/>
        </p:nvSpPr>
        <p:spPr>
          <a:xfrm>
            <a:off x="813816" y="2194560"/>
            <a:ext cx="9692640" cy="1737360"/>
          </a:xfrm>
          <a:prstGeom prst="rect">
            <a:avLst/>
          </a:prstGeom>
          <a:noFill/>
          <a:ln/>
        </p:spPr>
        <p:txBody>
          <a:bodyPr wrap="square" lIns="0" tIns="0" rIns="0" bIns="0" rtlCol="0" anchor="t"/>
          <a:lstStyle/>
          <a:p>
            <a:pPr indent="0" marL="0">
              <a:lnSpc>
                <a:spcPct val="92000"/>
              </a:lnSpc>
              <a:buNone/>
            </a:pPr>
            <a:r>
              <a:rPr lang="en-US" sz="6000" b="1" dirty="0">
                <a:solidFill>
                  <a:schemeClr val="bg1"/>
                </a:solidFill>
              </a:rPr>
              <a:t>Turning Mkwasine cane into Zimbabwe’s fuel</a:t>
            </a:r>
            <a:endParaRPr lang="en-US" sz="6000" dirty="0"/>
          </a:p>
        </p:txBody>
      </p:sp>
      <p:sp>
        <p:nvSpPr>
          <p:cNvPr id="6" name="Subtitle"/>
          <p:cNvSpPr txBox="1"/>
          <p:nvPr/>
        </p:nvSpPr>
        <p:spPr>
          <a:xfrm>
            <a:off x="813816" y="4069080"/>
            <a:ext cx="9144000" cy="411480"/>
          </a:xfrm>
          <a:prstGeom prst="rect">
            <a:avLst/>
          </a:prstGeom>
          <a:noFill/>
          <a:ln/>
        </p:spPr>
        <p:txBody>
          <a:bodyPr wrap="square" lIns="0" tIns="0" rIns="0" bIns="0" rtlCol="0" anchor="ctr"/>
          <a:lstStyle/>
          <a:p>
            <a:pPr indent="0" marL="0">
              <a:buNone/>
            </a:pPr>
            <a:r>
              <a:rPr lang="en-US" sz="1800" dirty="0">
                <a:solidFill>
                  <a:schemeClr val="accent4"/>
                </a:solidFill>
              </a:rPr>
              <a:t>Phase 1 Fuel Ethanol and ENA Plant, Chiredzi District, Masvingo Province</a:t>
            </a:r>
            <a:endParaRPr lang="en-US" sz="1800" dirty="0"/>
          </a:p>
        </p:txBody>
      </p:sp>
      <p:sp>
        <p:nvSpPr>
          <p:cNvPr id="7" name="Ask pill"/>
          <p:cNvSpPr/>
          <p:nvPr/>
        </p:nvSpPr>
        <p:spPr>
          <a:xfrm>
            <a:off x="813816" y="4754880"/>
            <a:ext cx="6309360" cy="658368"/>
          </a:xfrm>
          <a:prstGeom prst="roundRect">
            <a:avLst>
              <a:gd name="adj" fmla="val 50000"/>
            </a:avLst>
          </a:prstGeom>
          <a:solidFill>
            <a:schemeClr val="accent2"/>
          </a:solidFill>
          <a:ln/>
        </p:spPr>
      </p:sp>
      <p:sp>
        <p:nvSpPr>
          <p:cNvPr id="8" name="Ask"/>
          <p:cNvSpPr txBox="1"/>
          <p:nvPr/>
        </p:nvSpPr>
        <p:spPr>
          <a:xfrm>
            <a:off x="813816" y="4754880"/>
            <a:ext cx="6309360" cy="658368"/>
          </a:xfrm>
          <a:prstGeom prst="rect">
            <a:avLst/>
          </a:prstGeom>
          <a:noFill/>
          <a:ln/>
        </p:spPr>
        <p:txBody>
          <a:bodyPr wrap="square" lIns="0" tIns="0" rIns="0" bIns="0" rtlCol="0" anchor="ctr"/>
          <a:lstStyle/>
          <a:p>
            <a:pPr algn="ctr" indent="0" marL="0">
              <a:buNone/>
            </a:pPr>
            <a:r>
              <a:rPr lang="en-US" sz="1700" b="1" dirty="0">
                <a:solidFill>
                  <a:schemeClr val="tx2"/>
                </a:solidFill>
              </a:rPr>
              <a:t>The ask: a US$20.0M Government-guaranteed term loan</a:t>
            </a:r>
            <a:endParaRPr lang="en-US" sz="1700" dirty="0"/>
          </a:p>
        </p:txBody>
      </p:sp>
      <p:sp>
        <p:nvSpPr>
          <p:cNvPr id="9" name="Footer note"/>
          <p:cNvSpPr txBox="1"/>
          <p:nvPr/>
        </p:nvSpPr>
        <p:spPr>
          <a:xfrm>
            <a:off x="813816" y="6263640"/>
            <a:ext cx="10564063" cy="274320"/>
          </a:xfrm>
          <a:prstGeom prst="rect">
            <a:avLst/>
          </a:prstGeom>
          <a:noFill/>
          <a:ln/>
        </p:spPr>
        <p:txBody>
          <a:bodyPr wrap="square" lIns="0" tIns="0" rIns="0" bIns="0" rtlCol="0" anchor="ctr"/>
          <a:lstStyle/>
          <a:p>
            <a:pPr indent="0" marL="0">
              <a:buNone/>
            </a:pPr>
            <a:r>
              <a:rPr lang="en-US" sz="1200" dirty="0">
                <a:solidFill>
                  <a:schemeClr val="accent4"/>
                </a:solidFill>
              </a:rPr>
              <a:t>Prime Cane Group (Private) Limited · Presented to Afreximbank and the Ministry of Lands, Agriculture, Fisheries, Water and Rural Development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t"/>
          <a:lstStyle/>
          <a:p>
            <a:pPr algn="l" indent="0" marL="0">
              <a:buNone/>
            </a:pPr>
            <a:r>
              <a:rPr lang="en-US" sz="1200" b="1" spc="300" kern="0" dirty="0">
                <a:solidFill>
                  <a:schemeClr val="accent1"/>
                </a:solidFill>
              </a:rPr>
              <a:t>THE OPPORTUNITY</a:t>
            </a: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Zimbabwe must quadruple ethanol output by 2035</a:t>
            </a:r>
            <a:endParaRPr lang="en-US" sz="3600" dirty="0"/>
          </a:p>
        </p:txBody>
      </p:sp>
      <p:sp>
        <p:nvSpPr>
          <p:cNvPr id="4" name="Stat card 1"/>
          <p:cNvSpPr/>
          <p:nvPr/>
        </p:nvSpPr>
        <p:spPr>
          <a:xfrm>
            <a:off x="813816" y="2331720"/>
            <a:ext cx="3338474" cy="2331720"/>
          </a:xfrm>
          <a:prstGeom prst="roundRect">
            <a:avLst>
              <a:gd name="adj" fmla="val 6275"/>
            </a:avLst>
          </a:prstGeom>
          <a:solidFill>
            <a:schemeClr val="bg1"/>
          </a:solidFill>
          <a:ln w="9525">
            <a:solidFill>
              <a:schemeClr val="accent5"/>
            </a:solidFill>
            <a:prstDash val="solid"/>
          </a:ln>
        </p:spPr>
      </p:sp>
      <p:sp>
        <p:nvSpPr>
          <p:cNvPr id="5" name="Stat 1"/>
          <p:cNvSpPr txBox="1"/>
          <p:nvPr/>
        </p:nvSpPr>
        <p:spPr>
          <a:xfrm>
            <a:off x="1088136" y="2560320"/>
            <a:ext cx="2789834" cy="914400"/>
          </a:xfrm>
          <a:prstGeom prst="rect">
            <a:avLst/>
          </a:prstGeom>
          <a:noFill/>
          <a:ln/>
        </p:spPr>
        <p:txBody>
          <a:bodyPr wrap="square" lIns="0" tIns="0" rIns="0" bIns="0" rtlCol="0" anchor="ctr"/>
          <a:lstStyle/>
          <a:p>
            <a:pPr indent="0" marL="0">
              <a:buNone/>
            </a:pPr>
            <a:r>
              <a:rPr lang="en-US" sz="6000" b="1" dirty="0">
                <a:solidFill>
                  <a:schemeClr val="accent1"/>
                </a:solidFill>
              </a:rPr>
              <a:t>155</a:t>
            </a:r>
            <a:endParaRPr lang="en-US" sz="6000" dirty="0"/>
          </a:p>
        </p:txBody>
      </p:sp>
      <p:sp>
        <p:nvSpPr>
          <p:cNvPr id="6" name="Stat label 1"/>
          <p:cNvSpPr txBox="1"/>
          <p:nvPr/>
        </p:nvSpPr>
        <p:spPr>
          <a:xfrm>
            <a:off x="1088136" y="3566160"/>
            <a:ext cx="2789834" cy="914400"/>
          </a:xfrm>
          <a:prstGeom prst="rect">
            <a:avLst/>
          </a:prstGeom>
          <a:noFill/>
          <a:ln/>
        </p:spPr>
        <p:txBody>
          <a:bodyPr wrap="square" lIns="0" tIns="0" rIns="0" bIns="0" rtlCol="0" anchor="t"/>
          <a:lstStyle/>
          <a:p>
            <a:pPr indent="0" marL="0">
              <a:buNone/>
            </a:pPr>
            <a:r>
              <a:rPr lang="en-US" sz="1600" dirty="0">
                <a:solidFill>
                  <a:schemeClr val="accent3"/>
                </a:solidFill>
              </a:rPr>
              <a:t>million litres a year produced today</a:t>
            </a:r>
            <a:endParaRPr lang="en-US" sz="1600" dirty="0"/>
          </a:p>
        </p:txBody>
      </p:sp>
      <p:sp>
        <p:nvSpPr>
          <p:cNvPr id="7" name="Stat card 2"/>
          <p:cNvSpPr/>
          <p:nvPr/>
        </p:nvSpPr>
        <p:spPr>
          <a:xfrm>
            <a:off x="4426610" y="2331720"/>
            <a:ext cx="3338474" cy="2331720"/>
          </a:xfrm>
          <a:prstGeom prst="roundRect">
            <a:avLst>
              <a:gd name="adj" fmla="val 6275"/>
            </a:avLst>
          </a:prstGeom>
          <a:solidFill>
            <a:schemeClr val="bg1"/>
          </a:solidFill>
          <a:ln w="9525">
            <a:solidFill>
              <a:schemeClr val="accent5"/>
            </a:solidFill>
            <a:prstDash val="solid"/>
          </a:ln>
        </p:spPr>
      </p:sp>
      <p:sp>
        <p:nvSpPr>
          <p:cNvPr id="8" name="Stat 2"/>
          <p:cNvSpPr txBox="1"/>
          <p:nvPr/>
        </p:nvSpPr>
        <p:spPr>
          <a:xfrm>
            <a:off x="4700930" y="2560320"/>
            <a:ext cx="2789834" cy="914400"/>
          </a:xfrm>
          <a:prstGeom prst="rect">
            <a:avLst/>
          </a:prstGeom>
          <a:noFill/>
          <a:ln/>
        </p:spPr>
        <p:txBody>
          <a:bodyPr wrap="square" lIns="0" tIns="0" rIns="0" bIns="0" rtlCol="0" anchor="ctr"/>
          <a:lstStyle/>
          <a:p>
            <a:pPr indent="0" marL="0">
              <a:buNone/>
            </a:pPr>
            <a:r>
              <a:rPr lang="en-US" sz="6000" b="1" dirty="0">
                <a:solidFill>
                  <a:schemeClr val="accent1"/>
                </a:solidFill>
              </a:rPr>
              <a:t>600</a:t>
            </a:r>
            <a:endParaRPr lang="en-US" sz="6000" dirty="0"/>
          </a:p>
        </p:txBody>
      </p:sp>
      <p:sp>
        <p:nvSpPr>
          <p:cNvPr id="9" name="Stat label 2"/>
          <p:cNvSpPr txBox="1"/>
          <p:nvPr/>
        </p:nvSpPr>
        <p:spPr>
          <a:xfrm>
            <a:off x="4700930" y="3566160"/>
            <a:ext cx="2789834" cy="914400"/>
          </a:xfrm>
          <a:prstGeom prst="rect">
            <a:avLst/>
          </a:prstGeom>
          <a:noFill/>
          <a:ln/>
        </p:spPr>
        <p:txBody>
          <a:bodyPr wrap="square" lIns="0" tIns="0" rIns="0" bIns="0" rtlCol="0" anchor="t"/>
          <a:lstStyle/>
          <a:p>
            <a:pPr indent="0" marL="0">
              <a:buNone/>
            </a:pPr>
            <a:r>
              <a:rPr lang="en-US" sz="1600" dirty="0">
                <a:solidFill>
                  <a:schemeClr val="accent3"/>
                </a:solidFill>
              </a:rPr>
              <a:t>million litres a year: Cabinet’s target for 2035</a:t>
            </a:r>
            <a:endParaRPr lang="en-US" sz="1600" dirty="0"/>
          </a:p>
        </p:txBody>
      </p:sp>
      <p:sp>
        <p:nvSpPr>
          <p:cNvPr id="10" name="Stat card 3"/>
          <p:cNvSpPr/>
          <p:nvPr/>
        </p:nvSpPr>
        <p:spPr>
          <a:xfrm>
            <a:off x="8039405" y="2331720"/>
            <a:ext cx="3338474" cy="2331720"/>
          </a:xfrm>
          <a:prstGeom prst="roundRect">
            <a:avLst>
              <a:gd name="adj" fmla="val 6275"/>
            </a:avLst>
          </a:prstGeom>
          <a:solidFill>
            <a:schemeClr val="accent1"/>
          </a:solidFill>
          <a:ln/>
        </p:spPr>
      </p:sp>
      <p:sp>
        <p:nvSpPr>
          <p:cNvPr id="11" name="Stat 3"/>
          <p:cNvSpPr txBox="1"/>
          <p:nvPr/>
        </p:nvSpPr>
        <p:spPr>
          <a:xfrm>
            <a:off x="8313725" y="2560320"/>
            <a:ext cx="2789834" cy="914400"/>
          </a:xfrm>
          <a:prstGeom prst="rect">
            <a:avLst/>
          </a:prstGeom>
          <a:noFill/>
          <a:ln/>
        </p:spPr>
        <p:txBody>
          <a:bodyPr wrap="square" lIns="0" tIns="0" rIns="0" bIns="0" rtlCol="0" anchor="ctr"/>
          <a:lstStyle/>
          <a:p>
            <a:pPr indent="0" marL="0">
              <a:buNone/>
            </a:pPr>
            <a:r>
              <a:rPr lang="en-US" sz="6000" b="1" dirty="0">
                <a:solidFill>
                  <a:schemeClr val="accent2"/>
                </a:solidFill>
              </a:rPr>
              <a:t>E20</a:t>
            </a:r>
            <a:endParaRPr lang="en-US" sz="6000" dirty="0"/>
          </a:p>
        </p:txBody>
      </p:sp>
      <p:sp>
        <p:nvSpPr>
          <p:cNvPr id="12" name="Stat label 3"/>
          <p:cNvSpPr txBox="1"/>
          <p:nvPr/>
        </p:nvSpPr>
        <p:spPr>
          <a:xfrm>
            <a:off x="8313725" y="3566160"/>
            <a:ext cx="2789834" cy="914400"/>
          </a:xfrm>
          <a:prstGeom prst="rect">
            <a:avLst/>
          </a:prstGeom>
          <a:noFill/>
          <a:ln/>
        </p:spPr>
        <p:txBody>
          <a:bodyPr wrap="square" lIns="0" tIns="0" rIns="0" bIns="0" rtlCol="0" anchor="t"/>
          <a:lstStyle/>
          <a:p>
            <a:pPr indent="0" marL="0">
              <a:buNone/>
            </a:pPr>
            <a:r>
              <a:rPr lang="en-US" sz="1600" dirty="0">
                <a:solidFill>
                  <a:schemeClr val="bg1"/>
                </a:solidFill>
              </a:rPr>
              <a:t>blend mandated in 2026, with petrol demand up about 25% a year</a:t>
            </a:r>
            <a:endParaRPr lang="en-US" sz="1600" dirty="0"/>
          </a:p>
        </p:txBody>
      </p:sp>
      <p:sp>
        <p:nvSpPr>
          <p:cNvPr id="13" name="Takeaway"/>
          <p:cNvSpPr txBox="1"/>
          <p:nvPr/>
        </p:nvSpPr>
        <p:spPr>
          <a:xfrm>
            <a:off x="813816" y="4983480"/>
            <a:ext cx="10564063" cy="822960"/>
          </a:xfrm>
          <a:prstGeom prst="rect">
            <a:avLst/>
          </a:prstGeom>
          <a:noFill/>
          <a:ln/>
        </p:spPr>
        <p:txBody>
          <a:bodyPr wrap="square" lIns="0" tIns="0" rIns="0" bIns="0" rtlCol="0" anchor="t"/>
          <a:lstStyle/>
          <a:p>
            <a:pPr indent="0" marL="0">
              <a:buNone/>
            </a:pPr>
            <a:r>
              <a:rPr lang="en-US" sz="1800" dirty="0">
                <a:solidFill>
                  <a:schemeClr val="tx1"/>
                </a:solidFill>
              </a:rPr>
              <a:t>Only two producers supply the blend today. </a:t>
            </a:r>
            <a:pPr indent="0" marL="0">
              <a:buNone/>
            </a:pPr>
            <a:r>
              <a:rPr lang="en-US" sz="1800" b="1" dirty="0">
                <a:solidFill>
                  <a:schemeClr val="tx1"/>
                </a:solidFill>
              </a:rPr>
              <a:t>Phase 1 adds 29.2 million litres a year, about 15% of national supply.</a:t>
            </a:r>
            <a:endParaRPr lang="en-US" sz="1800" dirty="0"/>
          </a:p>
        </p:txBody>
      </p:sp>
      <p:sp>
        <p:nvSpPr>
          <p:cNvPr id="14" name="Footer note"/>
          <p:cNvSpPr txBox="1"/>
          <p:nvPr/>
        </p:nvSpPr>
        <p:spPr>
          <a:xfrm>
            <a:off x="813816" y="6309360"/>
            <a:ext cx="9649663" cy="274320"/>
          </a:xfrm>
          <a:prstGeom prst="rect">
            <a:avLst/>
          </a:prstGeom>
          <a:noFill/>
          <a:ln/>
        </p:spPr>
        <p:txBody>
          <a:bodyPr wrap="square" lIns="0" tIns="0" rIns="0" bIns="0" rtlCol="0" anchor="ctr"/>
          <a:lstStyle/>
          <a:p>
            <a:pPr indent="0" marL="0">
              <a:buNone/>
            </a:pPr>
            <a:r>
              <a:rPr lang="en-US" sz="1200" dirty="0">
                <a:solidFill>
                  <a:schemeClr val="accent3"/>
                </a:solidFill>
              </a:rPr>
              <a:t>Sources: Equity Axis (2026); ZERA via NewsDay; Advanced BioFuels USA</a:t>
            </a:r>
            <a:endParaRPr lang="en-US" sz="12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t"/>
          <a:lstStyle/>
          <a:p>
            <a:pPr algn="l" indent="0" marL="0">
              <a:buNone/>
            </a:pPr>
            <a:r>
              <a:rPr lang="en-US" sz="1200" b="1" spc="300" kern="0" dirty="0">
                <a:solidFill>
                  <a:schemeClr val="accent1"/>
                </a:solidFill>
              </a:rPr>
              <a:t>THE PROJECT</a:t>
            </a: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Cane already in the ground becomes two products within 24 months</a:t>
            </a:r>
            <a:endParaRPr lang="en-US" sz="3600" dirty="0"/>
          </a:p>
        </p:txBody>
      </p:sp>
      <p:sp>
        <p:nvSpPr>
          <p:cNvPr id="4" name="Step card 1"/>
          <p:cNvSpPr/>
          <p:nvPr/>
        </p:nvSpPr>
        <p:spPr>
          <a:xfrm>
            <a:off x="813816" y="2331720"/>
            <a:ext cx="3003194" cy="2331720"/>
          </a:xfrm>
          <a:prstGeom prst="roundRect">
            <a:avLst>
              <a:gd name="adj" fmla="val 6275"/>
            </a:avLst>
          </a:prstGeom>
          <a:solidFill>
            <a:schemeClr val="bg1"/>
          </a:solidFill>
          <a:ln w="9525">
            <a:solidFill>
              <a:schemeClr val="accent5"/>
            </a:solidFill>
            <a:prstDash val="solid"/>
          </a:ln>
        </p:spPr>
      </p:sp>
      <p:sp>
        <p:nvSpPr>
          <p:cNvPr id="5" name="Step label 1"/>
          <p:cNvSpPr txBox="1"/>
          <p:nvPr/>
        </p:nvSpPr>
        <p:spPr>
          <a:xfrm>
            <a:off x="1088136" y="2560320"/>
            <a:ext cx="2454554"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FEEDSTOCK</a:t>
            </a:r>
            <a:endParaRPr lang="en-US" sz="1200" dirty="0"/>
          </a:p>
        </p:txBody>
      </p:sp>
      <p:sp>
        <p:nvSpPr>
          <p:cNvPr id="6" name="Step figure 1"/>
          <p:cNvSpPr txBox="1"/>
          <p:nvPr/>
        </p:nvSpPr>
        <p:spPr>
          <a:xfrm>
            <a:off x="1088136" y="2880360"/>
            <a:ext cx="2454554" cy="685800"/>
          </a:xfrm>
          <a:prstGeom prst="rect">
            <a:avLst/>
          </a:prstGeom>
          <a:noFill/>
          <a:ln/>
        </p:spPr>
        <p:txBody>
          <a:bodyPr wrap="square" lIns="0" tIns="0" rIns="0" bIns="0" rtlCol="0" anchor="ctr"/>
          <a:lstStyle/>
          <a:p>
            <a:pPr indent="0" marL="0">
              <a:buNone/>
            </a:pPr>
            <a:r>
              <a:rPr lang="en-US" sz="3600" b="1" dirty="0">
                <a:solidFill>
                  <a:schemeClr val="tx1"/>
                </a:solidFill>
              </a:rPr>
              <a:t>384,000 t</a:t>
            </a:r>
            <a:endParaRPr lang="en-US" sz="3600" dirty="0"/>
          </a:p>
        </p:txBody>
      </p:sp>
      <p:sp>
        <p:nvSpPr>
          <p:cNvPr id="7" name="Step text 1"/>
          <p:cNvSpPr txBox="1"/>
          <p:nvPr/>
        </p:nvSpPr>
        <p:spPr>
          <a:xfrm>
            <a:off x="1088136" y="3611880"/>
            <a:ext cx="2454554" cy="914400"/>
          </a:xfrm>
          <a:prstGeom prst="rect">
            <a:avLst/>
          </a:prstGeom>
          <a:noFill/>
          <a:ln/>
        </p:spPr>
        <p:txBody>
          <a:bodyPr wrap="square" lIns="0" tIns="0" rIns="0" bIns="0" rtlCol="0" anchor="t"/>
          <a:lstStyle/>
          <a:p>
            <a:pPr indent="0" marL="0">
              <a:buNone/>
            </a:pPr>
            <a:r>
              <a:rPr lang="en-US" sz="1500" dirty="0">
                <a:solidFill>
                  <a:schemeClr val="accent3"/>
                </a:solidFill>
              </a:rPr>
              <a:t>of cane a year from outgrowers on 60% of Mkwasine’s 8,000 ha</a:t>
            </a:r>
            <a:endParaRPr lang="en-US" sz="1500" dirty="0"/>
          </a:p>
        </p:txBody>
      </p:sp>
      <p:sp>
        <p:nvSpPr>
          <p:cNvPr id="8" name="Arrow 1"/>
          <p:cNvSpPr/>
          <p:nvPr/>
        </p:nvSpPr>
        <p:spPr>
          <a:xfrm>
            <a:off x="3999890" y="3337560"/>
            <a:ext cx="411480" cy="292608"/>
          </a:xfrm>
          <a:prstGeom prst="rightArrow">
            <a:avLst/>
          </a:prstGeom>
          <a:solidFill>
            <a:schemeClr val="accent1"/>
          </a:solidFill>
          <a:ln/>
        </p:spPr>
      </p:sp>
      <p:sp>
        <p:nvSpPr>
          <p:cNvPr id="9" name="Step card 2"/>
          <p:cNvSpPr/>
          <p:nvPr/>
        </p:nvSpPr>
        <p:spPr>
          <a:xfrm>
            <a:off x="4594250" y="2331720"/>
            <a:ext cx="3003194" cy="2331720"/>
          </a:xfrm>
          <a:prstGeom prst="roundRect">
            <a:avLst>
              <a:gd name="adj" fmla="val 6275"/>
            </a:avLst>
          </a:prstGeom>
          <a:solidFill>
            <a:schemeClr val="bg1"/>
          </a:solidFill>
          <a:ln w="9525">
            <a:solidFill>
              <a:schemeClr val="accent5"/>
            </a:solidFill>
            <a:prstDash val="solid"/>
          </a:ln>
        </p:spPr>
      </p:sp>
      <p:sp>
        <p:nvSpPr>
          <p:cNvPr id="10" name="Step label 2"/>
          <p:cNvSpPr txBox="1"/>
          <p:nvPr/>
        </p:nvSpPr>
        <p:spPr>
          <a:xfrm>
            <a:off x="4868570" y="2560320"/>
            <a:ext cx="2454554"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MODULAR PLANT</a:t>
            </a:r>
            <a:endParaRPr lang="en-US" sz="1200" dirty="0"/>
          </a:p>
        </p:txBody>
      </p:sp>
      <p:sp>
        <p:nvSpPr>
          <p:cNvPr id="11" name="Step figure 2"/>
          <p:cNvSpPr txBox="1"/>
          <p:nvPr/>
        </p:nvSpPr>
        <p:spPr>
          <a:xfrm>
            <a:off x="4868570" y="2880360"/>
            <a:ext cx="2454554" cy="685800"/>
          </a:xfrm>
          <a:prstGeom prst="rect">
            <a:avLst/>
          </a:prstGeom>
          <a:noFill/>
          <a:ln/>
        </p:spPr>
        <p:txBody>
          <a:bodyPr wrap="square" lIns="0" tIns="0" rIns="0" bIns="0" rtlCol="0" anchor="ctr"/>
          <a:lstStyle/>
          <a:p>
            <a:pPr indent="0" marL="0">
              <a:buNone/>
            </a:pPr>
            <a:r>
              <a:rPr lang="en-US" sz="3600" b="1" dirty="0">
                <a:solidFill>
                  <a:schemeClr val="tx1"/>
                </a:solidFill>
              </a:rPr>
              <a:t>1,750 t/day</a:t>
            </a:r>
            <a:endParaRPr lang="en-US" sz="3600" dirty="0"/>
          </a:p>
        </p:txBody>
      </p:sp>
      <p:sp>
        <p:nvSpPr>
          <p:cNvPr id="12" name="Step text 2"/>
          <p:cNvSpPr txBox="1"/>
          <p:nvPr/>
        </p:nvSpPr>
        <p:spPr>
          <a:xfrm>
            <a:off x="4868570" y="3611880"/>
            <a:ext cx="2454554" cy="914400"/>
          </a:xfrm>
          <a:prstGeom prst="rect">
            <a:avLst/>
          </a:prstGeom>
          <a:noFill/>
          <a:ln/>
        </p:spPr>
        <p:txBody>
          <a:bodyPr wrap="square" lIns="0" tIns="0" rIns="0" bIns="0" rtlCol="0" anchor="t"/>
          <a:lstStyle/>
          <a:p>
            <a:pPr indent="0" marL="0">
              <a:buNone/>
            </a:pPr>
            <a:r>
              <a:rPr lang="en-US" sz="1500" dirty="0">
                <a:solidFill>
                  <a:schemeClr val="accent3"/>
                </a:solidFill>
              </a:rPr>
              <a:t>built in 18 to 24 months; first crush in April 2029</a:t>
            </a:r>
            <a:endParaRPr lang="en-US" sz="1500" dirty="0"/>
          </a:p>
        </p:txBody>
      </p:sp>
      <p:sp>
        <p:nvSpPr>
          <p:cNvPr id="13" name="Arrow 2"/>
          <p:cNvSpPr/>
          <p:nvPr/>
        </p:nvSpPr>
        <p:spPr>
          <a:xfrm>
            <a:off x="7780325" y="3337560"/>
            <a:ext cx="411480" cy="292608"/>
          </a:xfrm>
          <a:prstGeom prst="rightArrow">
            <a:avLst/>
          </a:prstGeom>
          <a:solidFill>
            <a:schemeClr val="accent1"/>
          </a:solidFill>
          <a:ln/>
        </p:spPr>
      </p:sp>
      <p:sp>
        <p:nvSpPr>
          <p:cNvPr id="14" name="Step card 3"/>
          <p:cNvSpPr/>
          <p:nvPr/>
        </p:nvSpPr>
        <p:spPr>
          <a:xfrm>
            <a:off x="8374685" y="2331720"/>
            <a:ext cx="3003194" cy="2331720"/>
          </a:xfrm>
          <a:prstGeom prst="roundRect">
            <a:avLst>
              <a:gd name="adj" fmla="val 6275"/>
            </a:avLst>
          </a:prstGeom>
          <a:solidFill>
            <a:schemeClr val="accent1"/>
          </a:solidFill>
          <a:ln/>
        </p:spPr>
      </p:sp>
      <p:sp>
        <p:nvSpPr>
          <p:cNvPr id="15" name="Step label 3"/>
          <p:cNvSpPr txBox="1"/>
          <p:nvPr/>
        </p:nvSpPr>
        <p:spPr>
          <a:xfrm>
            <a:off x="8649005" y="2560320"/>
            <a:ext cx="2454554"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OUTPUT</a:t>
            </a:r>
            <a:endParaRPr lang="en-US" sz="1200" dirty="0"/>
          </a:p>
        </p:txBody>
      </p:sp>
      <p:sp>
        <p:nvSpPr>
          <p:cNvPr id="16" name="Step figure 3"/>
          <p:cNvSpPr txBox="1"/>
          <p:nvPr/>
        </p:nvSpPr>
        <p:spPr>
          <a:xfrm>
            <a:off x="8649005" y="2880360"/>
            <a:ext cx="2454554" cy="685800"/>
          </a:xfrm>
          <a:prstGeom prst="rect">
            <a:avLst/>
          </a:prstGeom>
          <a:noFill/>
          <a:ln/>
        </p:spPr>
        <p:txBody>
          <a:bodyPr wrap="square" lIns="0" tIns="0" rIns="0" bIns="0" rtlCol="0" anchor="ctr"/>
          <a:lstStyle/>
          <a:p>
            <a:pPr indent="0" marL="0">
              <a:buNone/>
            </a:pPr>
            <a:r>
              <a:rPr lang="en-US" sz="3600" b="1" dirty="0">
                <a:solidFill>
                  <a:schemeClr val="bg1"/>
                </a:solidFill>
              </a:rPr>
              <a:t>29.2 ML</a:t>
            </a:r>
            <a:endParaRPr lang="en-US" sz="3600" dirty="0"/>
          </a:p>
        </p:txBody>
      </p:sp>
      <p:sp>
        <p:nvSpPr>
          <p:cNvPr id="17" name="Step text 3"/>
          <p:cNvSpPr txBox="1"/>
          <p:nvPr/>
        </p:nvSpPr>
        <p:spPr>
          <a:xfrm>
            <a:off x="8649005" y="3611880"/>
            <a:ext cx="2454554" cy="914400"/>
          </a:xfrm>
          <a:prstGeom prst="rect">
            <a:avLst/>
          </a:prstGeom>
          <a:noFill/>
          <a:ln/>
        </p:spPr>
        <p:txBody>
          <a:bodyPr wrap="square" lIns="0" tIns="0" rIns="0" bIns="0" rtlCol="0" anchor="t"/>
          <a:lstStyle/>
          <a:p>
            <a:pPr indent="0" marL="0">
              <a:buNone/>
            </a:pPr>
            <a:r>
              <a:rPr lang="en-US" sz="1500" dirty="0">
                <a:solidFill>
                  <a:schemeClr val="bg1"/>
                </a:solidFill>
              </a:rPr>
              <a:t>23.3 ML fuel ethanol for E20 and 5.8 ML ENA for spirits and pharma</a:t>
            </a:r>
            <a:endParaRPr lang="en-US" sz="1500" dirty="0"/>
          </a:p>
        </p:txBody>
      </p:sp>
      <p:sp>
        <p:nvSpPr>
          <p:cNvPr id="18" name="Takeaway"/>
          <p:cNvSpPr txBox="1"/>
          <p:nvPr/>
        </p:nvSpPr>
        <p:spPr>
          <a:xfrm>
            <a:off x="813816" y="4983480"/>
            <a:ext cx="10564063" cy="548640"/>
          </a:xfrm>
          <a:prstGeom prst="rect">
            <a:avLst/>
          </a:prstGeom>
          <a:noFill/>
          <a:ln/>
        </p:spPr>
        <p:txBody>
          <a:bodyPr wrap="square" lIns="0" tIns="0" rIns="0" bIns="0" rtlCol="0" anchor="t"/>
          <a:lstStyle/>
          <a:p>
            <a:pPr indent="0" marL="0">
              <a:buNone/>
            </a:pPr>
            <a:r>
              <a:rPr lang="en-US" sz="1600" dirty="0">
                <a:solidFill>
                  <a:schemeClr val="accent3"/>
                </a:solidFill>
              </a:rPr>
              <a:t>Bagasse powers the plant and spent wash returns to the fields, so no liquid effluent leaves the site.</a:t>
            </a:r>
            <a:endParaRPr lang="en-US" sz="1600" dirty="0"/>
          </a:p>
        </p:txBody>
      </p:sp>
      <p:sp>
        <p:nvSpPr>
          <p:cNvPr id="19" name="Footer note"/>
          <p:cNvSpPr txBox="1"/>
          <p:nvPr/>
        </p:nvSpPr>
        <p:spPr>
          <a:xfrm>
            <a:off x="813816" y="6309360"/>
            <a:ext cx="9649663" cy="274320"/>
          </a:xfrm>
          <a:prstGeom prst="rect">
            <a:avLst/>
          </a:prstGeom>
          <a:noFill/>
          <a:ln/>
        </p:spPr>
        <p:txBody>
          <a:bodyPr wrap="square" lIns="0" tIns="0" rIns="0" bIns="0" rtlCol="0" anchor="ctr"/>
          <a:lstStyle/>
          <a:p>
            <a:pPr indent="0" marL="0">
              <a:buNone/>
            </a:pPr>
            <a:r>
              <a:rPr lang="en-US" sz="1200" dirty="0">
                <a:solidFill>
                  <a:schemeClr val="accent3"/>
                </a:solidFill>
              </a:rPr>
              <a:t>Prime Cane Group · Phase 1 Financing Proposal</a:t>
            </a:r>
            <a:endParaRPr lang="en-US" sz="12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t"/>
          <a:lstStyle/>
          <a:p>
            <a:pPr algn="l" indent="0" marL="0">
              <a:buNone/>
            </a:pPr>
            <a:r>
              <a:rPr lang="en-US" sz="1200" b="1" spc="300" kern="0" dirty="0">
                <a:solidFill>
                  <a:schemeClr val="accent1"/>
                </a:solidFill>
              </a:rPr>
              <a:t>THE NUMBERS, BASE CASE</a:t>
            </a: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The plant pays its way and repays the loan by 2035</a:t>
            </a:r>
            <a:endParaRPr lang="en-US" sz="3600" dirty="0"/>
          </a:p>
        </p:txBody>
      </p:sp>
      <p:sp>
        <p:nvSpPr>
          <p:cNvPr id="4" name="KPI card 1"/>
          <p:cNvSpPr/>
          <p:nvPr/>
        </p:nvSpPr>
        <p:spPr>
          <a:xfrm>
            <a:off x="813816" y="2331720"/>
            <a:ext cx="2469566" cy="2103120"/>
          </a:xfrm>
          <a:prstGeom prst="roundRect">
            <a:avLst>
              <a:gd name="adj" fmla="val 6957"/>
            </a:avLst>
          </a:prstGeom>
          <a:solidFill>
            <a:schemeClr val="bg1"/>
          </a:solidFill>
          <a:ln w="9525">
            <a:solidFill>
              <a:schemeClr val="accent5"/>
            </a:solidFill>
            <a:prstDash val="solid"/>
          </a:ln>
        </p:spPr>
      </p:sp>
      <p:sp>
        <p:nvSpPr>
          <p:cNvPr id="5" name="KPI 1"/>
          <p:cNvSpPr txBox="1"/>
          <p:nvPr/>
        </p:nvSpPr>
        <p:spPr>
          <a:xfrm>
            <a:off x="1069848" y="2560320"/>
            <a:ext cx="1957502" cy="868680"/>
          </a:xfrm>
          <a:prstGeom prst="rect">
            <a:avLst/>
          </a:prstGeom>
          <a:noFill/>
          <a:ln/>
        </p:spPr>
        <p:txBody>
          <a:bodyPr wrap="square" lIns="0" tIns="0" rIns="0" bIns="0" rtlCol="0" anchor="ctr"/>
          <a:lstStyle/>
          <a:p>
            <a:pPr indent="0" marL="0">
              <a:buNone/>
            </a:pPr>
            <a:r>
              <a:rPr lang="en-US" sz="4800" b="1" dirty="0">
                <a:solidFill>
                  <a:schemeClr val="accent1"/>
                </a:solidFill>
              </a:rPr>
              <a:t>34.3</a:t>
            </a:r>
            <a:endParaRPr lang="en-US" sz="4800" dirty="0"/>
          </a:p>
        </p:txBody>
      </p:sp>
      <p:sp>
        <p:nvSpPr>
          <p:cNvPr id="6" name="KPI label 1"/>
          <p:cNvSpPr txBox="1"/>
          <p:nvPr/>
        </p:nvSpPr>
        <p:spPr>
          <a:xfrm>
            <a:off x="1069848" y="3474720"/>
            <a:ext cx="1957502" cy="822960"/>
          </a:xfrm>
          <a:prstGeom prst="rect">
            <a:avLst/>
          </a:prstGeom>
          <a:noFill/>
          <a:ln/>
        </p:spPr>
        <p:txBody>
          <a:bodyPr wrap="square" lIns="0" tIns="0" rIns="0" bIns="0" rtlCol="0" anchor="t"/>
          <a:lstStyle/>
          <a:p>
            <a:pPr indent="0" marL="0">
              <a:buNone/>
            </a:pPr>
            <a:r>
              <a:rPr lang="en-US" sz="1500" dirty="0">
                <a:solidFill>
                  <a:schemeClr val="accent3"/>
                </a:solidFill>
              </a:rPr>
              <a:t>US$ million revenue a year at full run</a:t>
            </a:r>
            <a:endParaRPr lang="en-US" sz="1500" dirty="0"/>
          </a:p>
        </p:txBody>
      </p:sp>
      <p:sp>
        <p:nvSpPr>
          <p:cNvPr id="7" name="KPI card 2"/>
          <p:cNvSpPr/>
          <p:nvPr/>
        </p:nvSpPr>
        <p:spPr>
          <a:xfrm>
            <a:off x="3511982" y="2331720"/>
            <a:ext cx="2469566" cy="2103120"/>
          </a:xfrm>
          <a:prstGeom prst="roundRect">
            <a:avLst>
              <a:gd name="adj" fmla="val 6957"/>
            </a:avLst>
          </a:prstGeom>
          <a:solidFill>
            <a:schemeClr val="bg1"/>
          </a:solidFill>
          <a:ln w="9525">
            <a:solidFill>
              <a:schemeClr val="accent5"/>
            </a:solidFill>
            <a:prstDash val="solid"/>
          </a:ln>
        </p:spPr>
      </p:sp>
      <p:sp>
        <p:nvSpPr>
          <p:cNvPr id="8" name="KPI 2"/>
          <p:cNvSpPr txBox="1"/>
          <p:nvPr/>
        </p:nvSpPr>
        <p:spPr>
          <a:xfrm>
            <a:off x="3768014" y="2560320"/>
            <a:ext cx="1957502" cy="868680"/>
          </a:xfrm>
          <a:prstGeom prst="rect">
            <a:avLst/>
          </a:prstGeom>
          <a:noFill/>
          <a:ln/>
        </p:spPr>
        <p:txBody>
          <a:bodyPr wrap="square" lIns="0" tIns="0" rIns="0" bIns="0" rtlCol="0" anchor="ctr"/>
          <a:lstStyle/>
          <a:p>
            <a:pPr indent="0" marL="0">
              <a:buNone/>
            </a:pPr>
            <a:r>
              <a:rPr lang="en-US" sz="4800" b="1" dirty="0">
                <a:solidFill>
                  <a:schemeClr val="accent1"/>
                </a:solidFill>
              </a:rPr>
              <a:t>8.3</a:t>
            </a:r>
            <a:endParaRPr lang="en-US" sz="4800" dirty="0"/>
          </a:p>
        </p:txBody>
      </p:sp>
      <p:sp>
        <p:nvSpPr>
          <p:cNvPr id="9" name="KPI label 2"/>
          <p:cNvSpPr txBox="1"/>
          <p:nvPr/>
        </p:nvSpPr>
        <p:spPr>
          <a:xfrm>
            <a:off x="3768014" y="3474720"/>
            <a:ext cx="1957502" cy="822960"/>
          </a:xfrm>
          <a:prstGeom prst="rect">
            <a:avLst/>
          </a:prstGeom>
          <a:noFill/>
          <a:ln/>
        </p:spPr>
        <p:txBody>
          <a:bodyPr wrap="square" lIns="0" tIns="0" rIns="0" bIns="0" rtlCol="0" anchor="t"/>
          <a:lstStyle/>
          <a:p>
            <a:pPr indent="0" marL="0">
              <a:buNone/>
            </a:pPr>
            <a:r>
              <a:rPr lang="en-US" sz="1500" dirty="0">
                <a:solidFill>
                  <a:schemeClr val="accent3"/>
                </a:solidFill>
              </a:rPr>
              <a:t>US$ million EBITDA a year</a:t>
            </a:r>
            <a:endParaRPr lang="en-US" sz="1500" dirty="0"/>
          </a:p>
        </p:txBody>
      </p:sp>
      <p:sp>
        <p:nvSpPr>
          <p:cNvPr id="10" name="KPI card 3"/>
          <p:cNvSpPr/>
          <p:nvPr/>
        </p:nvSpPr>
        <p:spPr>
          <a:xfrm>
            <a:off x="6210148" y="2331720"/>
            <a:ext cx="2469566" cy="2103120"/>
          </a:xfrm>
          <a:prstGeom prst="roundRect">
            <a:avLst>
              <a:gd name="adj" fmla="val 6957"/>
            </a:avLst>
          </a:prstGeom>
          <a:solidFill>
            <a:schemeClr val="bg1"/>
          </a:solidFill>
          <a:ln w="9525">
            <a:solidFill>
              <a:schemeClr val="accent5"/>
            </a:solidFill>
            <a:prstDash val="solid"/>
          </a:ln>
        </p:spPr>
      </p:sp>
      <p:sp>
        <p:nvSpPr>
          <p:cNvPr id="11" name="KPI 3"/>
          <p:cNvSpPr txBox="1"/>
          <p:nvPr/>
        </p:nvSpPr>
        <p:spPr>
          <a:xfrm>
            <a:off x="6466180" y="2560320"/>
            <a:ext cx="1957502" cy="868680"/>
          </a:xfrm>
          <a:prstGeom prst="rect">
            <a:avLst/>
          </a:prstGeom>
          <a:noFill/>
          <a:ln/>
        </p:spPr>
        <p:txBody>
          <a:bodyPr wrap="square" lIns="0" tIns="0" rIns="0" bIns="0" rtlCol="0" anchor="ctr"/>
          <a:lstStyle/>
          <a:p>
            <a:pPr indent="0" marL="0">
              <a:buNone/>
            </a:pPr>
            <a:r>
              <a:rPr lang="en-US" sz="4800" b="1" dirty="0">
                <a:solidFill>
                  <a:schemeClr val="accent1"/>
                </a:solidFill>
              </a:rPr>
              <a:t>1.37x</a:t>
            </a:r>
            <a:endParaRPr lang="en-US" sz="4800" dirty="0"/>
          </a:p>
        </p:txBody>
      </p:sp>
      <p:sp>
        <p:nvSpPr>
          <p:cNvPr id="12" name="KPI label 3"/>
          <p:cNvSpPr txBox="1"/>
          <p:nvPr/>
        </p:nvSpPr>
        <p:spPr>
          <a:xfrm>
            <a:off x="6466180" y="3474720"/>
            <a:ext cx="1957502" cy="822960"/>
          </a:xfrm>
          <a:prstGeom prst="rect">
            <a:avLst/>
          </a:prstGeom>
          <a:noFill/>
          <a:ln/>
        </p:spPr>
        <p:txBody>
          <a:bodyPr wrap="square" lIns="0" tIns="0" rIns="0" bIns="0" rtlCol="0" anchor="t"/>
          <a:lstStyle/>
          <a:p>
            <a:pPr indent="0" marL="0">
              <a:buNone/>
            </a:pPr>
            <a:r>
              <a:rPr lang="en-US" sz="1500" dirty="0">
                <a:solidFill>
                  <a:schemeClr val="accent3"/>
                </a:solidFill>
              </a:rPr>
              <a:t>minimum debt service cover in any year</a:t>
            </a:r>
            <a:endParaRPr lang="en-US" sz="1500" dirty="0"/>
          </a:p>
        </p:txBody>
      </p:sp>
      <p:sp>
        <p:nvSpPr>
          <p:cNvPr id="13" name="KPI card 4"/>
          <p:cNvSpPr/>
          <p:nvPr/>
        </p:nvSpPr>
        <p:spPr>
          <a:xfrm>
            <a:off x="8908313" y="2331720"/>
            <a:ext cx="2469566" cy="2103120"/>
          </a:xfrm>
          <a:prstGeom prst="roundRect">
            <a:avLst>
              <a:gd name="adj" fmla="val 6957"/>
            </a:avLst>
          </a:prstGeom>
          <a:solidFill>
            <a:schemeClr val="bg1"/>
          </a:solidFill>
          <a:ln w="9525">
            <a:solidFill>
              <a:schemeClr val="accent5"/>
            </a:solidFill>
            <a:prstDash val="solid"/>
          </a:ln>
        </p:spPr>
      </p:sp>
      <p:sp>
        <p:nvSpPr>
          <p:cNvPr id="14" name="KPI 4"/>
          <p:cNvSpPr txBox="1"/>
          <p:nvPr/>
        </p:nvSpPr>
        <p:spPr>
          <a:xfrm>
            <a:off x="9164345" y="2560320"/>
            <a:ext cx="1957502" cy="868680"/>
          </a:xfrm>
          <a:prstGeom prst="rect">
            <a:avLst/>
          </a:prstGeom>
          <a:noFill/>
          <a:ln/>
        </p:spPr>
        <p:txBody>
          <a:bodyPr wrap="square" lIns="0" tIns="0" rIns="0" bIns="0" rtlCol="0" anchor="ctr"/>
          <a:lstStyle/>
          <a:p>
            <a:pPr indent="0" marL="0">
              <a:buNone/>
            </a:pPr>
            <a:r>
              <a:rPr lang="en-US" sz="4800" b="1" dirty="0">
                <a:solidFill>
                  <a:schemeClr val="accent1"/>
                </a:solidFill>
              </a:rPr>
              <a:t>27%</a:t>
            </a:r>
            <a:endParaRPr lang="en-US" sz="4800" dirty="0"/>
          </a:p>
        </p:txBody>
      </p:sp>
      <p:sp>
        <p:nvSpPr>
          <p:cNvPr id="15" name="KPI label 4"/>
          <p:cNvSpPr txBox="1"/>
          <p:nvPr/>
        </p:nvSpPr>
        <p:spPr>
          <a:xfrm>
            <a:off x="9164345" y="3474720"/>
            <a:ext cx="1957502" cy="822960"/>
          </a:xfrm>
          <a:prstGeom prst="rect">
            <a:avLst/>
          </a:prstGeom>
          <a:noFill/>
          <a:ln/>
        </p:spPr>
        <p:txBody>
          <a:bodyPr wrap="square" lIns="0" tIns="0" rIns="0" bIns="0" rtlCol="0" anchor="t"/>
          <a:lstStyle/>
          <a:p>
            <a:pPr indent="0" marL="0">
              <a:buNone/>
            </a:pPr>
            <a:r>
              <a:rPr lang="en-US" sz="1500" dirty="0">
                <a:solidFill>
                  <a:schemeClr val="accent3"/>
                </a:solidFill>
              </a:rPr>
              <a:t>project IRR, unlevered and after tax</a:t>
            </a:r>
            <a:endParaRPr lang="en-US" sz="1500" dirty="0"/>
          </a:p>
        </p:txBody>
      </p:sp>
      <p:sp>
        <p:nvSpPr>
          <p:cNvPr id="16" name="Takeaway"/>
          <p:cNvSpPr txBox="1"/>
          <p:nvPr/>
        </p:nvSpPr>
        <p:spPr>
          <a:xfrm>
            <a:off x="813816" y="4754880"/>
            <a:ext cx="10564063" cy="822960"/>
          </a:xfrm>
          <a:prstGeom prst="rect">
            <a:avLst/>
          </a:prstGeom>
          <a:noFill/>
          <a:ln/>
        </p:spPr>
        <p:txBody>
          <a:bodyPr wrap="square" lIns="0" tIns="0" rIns="0" bIns="0" rtlCol="0" anchor="t"/>
          <a:lstStyle/>
          <a:p>
            <a:pPr indent="0" marL="0">
              <a:buNone/>
            </a:pPr>
            <a:r>
              <a:rPr lang="en-US" sz="1600" dirty="0">
                <a:solidFill>
                  <a:schemeClr val="tx1"/>
                </a:solidFill>
              </a:rPr>
              <a:t>After tax, working capital, maintenance and a six-month debt service reserve. Priced at ZERA’s US$1.10/L for fuel ethanol and import parity of US$1.37/L for ENA.</a:t>
            </a:r>
            <a:endParaRPr lang="en-US" sz="1600" dirty="0"/>
          </a:p>
        </p:txBody>
      </p:sp>
      <p:sp>
        <p:nvSpPr>
          <p:cNvPr id="17" name="Footer note"/>
          <p:cNvSpPr txBox="1"/>
          <p:nvPr/>
        </p:nvSpPr>
        <p:spPr>
          <a:xfrm>
            <a:off x="813816" y="6309360"/>
            <a:ext cx="9649663" cy="274320"/>
          </a:xfrm>
          <a:prstGeom prst="rect">
            <a:avLst/>
          </a:prstGeom>
          <a:noFill/>
          <a:ln/>
        </p:spPr>
        <p:txBody>
          <a:bodyPr wrap="square" lIns="0" tIns="0" rIns="0" bIns="0" rtlCol="0" anchor="ctr"/>
          <a:lstStyle/>
          <a:p>
            <a:pPr indent="0" marL="0">
              <a:buNone/>
            </a:pPr>
            <a:r>
              <a:rPr lang="en-US" sz="1200" dirty="0">
                <a:solidFill>
                  <a:schemeClr val="accent3"/>
                </a:solidFill>
              </a:rPr>
              <a:t>Source: Prime Cane Group cash flow model v2, indicative pending EPC quotations</a:t>
            </a:r>
            <a:endParaRPr lang="en-US" sz="12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t"/>
          <a:lstStyle/>
          <a:p>
            <a:pPr algn="l" indent="0" marL="0">
              <a:buNone/>
            </a:pPr>
            <a:r>
              <a:rPr lang="en-US" sz="1200" b="1" spc="300" kern="0" dirty="0">
                <a:solidFill>
                  <a:schemeClr val="accent1"/>
                </a:solidFill>
              </a:rPr>
              <a:t>STRESS TESTS</a:t>
            </a: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Price is the risk to manage, and we have planned for it</a:t>
            </a:r>
            <a:endParaRPr lang="en-US" sz="3600" dirty="0"/>
          </a:p>
        </p:txBody>
      </p:sp>
      <p:graphicFrame>
        <p:nvGraphicFramePr>
          <p:cNvPr id="6" name="Stress table"/>
          <p:cNvGraphicFramePr>
            <a:graphicFrameLocks noGrp="1"/>
          </p:cNvGraphicFramePr>
          <p:nvPr>
            <p:extLst>
              <p:ext uri="{D42A27DB-BD31-4B8C-83A1-F6EECF244321}">
                <p14:modId xmlns:p14="http://schemas.microsoft.com/office/powerpoint/2010/main" val="1579011935"/>
              </p:ext>
            </p:extLst>
          </p:nvPr>
        </p:nvGraphicFramePr>
        <p:xfrm>
          <a:off x="813816" y="2286000"/>
          <a:ext cx="5760720" cy="914400"/>
        </p:xfrm>
        <a:graphic>
          <a:graphicData uri="http://schemas.openxmlformats.org/drawingml/2006/table">
            <a:tbl>
              <a:tblPr/>
              <a:tblGrid>
                <a:gridCol w="3931920"/>
                <a:gridCol w="1828800"/>
              </a:tblGrid>
              <a:tr h="438912">
                <a:tc>
                  <a:txBody>
                    <a:bodyPr/>
                    <a:lstStyle/>
                    <a:p>
                      <a:pPr algn="l" indent="0" marL="0">
                        <a:buNone/>
                      </a:pPr>
                      <a:r>
                        <a:rPr lang="en-US" sz="1500" b="1" dirty="0">
                          <a:solidFill>
                            <a:schemeClr val="bg1"/>
                          </a:solidFill>
                        </a:rPr>
                        <a:t>Case</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accent1"/>
                    </a:solidFill>
                  </a:tcPr>
                </a:tc>
                <a:tc>
                  <a:txBody>
                    <a:bodyPr/>
                    <a:lstStyle/>
                    <a:p>
                      <a:pPr algn="r" indent="0" marL="0">
                        <a:buNone/>
                      </a:pPr>
                      <a:r>
                        <a:rPr lang="en-US" sz="1500" b="1" dirty="0">
                          <a:solidFill>
                            <a:schemeClr val="bg1"/>
                          </a:solidFill>
                        </a:rPr>
                        <a:t>Min debt cover</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accent1"/>
                    </a:solidFill>
                  </a:tcPr>
                </a:tc>
              </a:tr>
              <a:tr h="438912">
                <a:tc>
                  <a:txBody>
                    <a:bodyPr/>
                    <a:lstStyle/>
                    <a:p>
                      <a:pPr indent="0" marL="0">
                        <a:buNone/>
                      </a:pPr>
                      <a:r>
                        <a:rPr lang="en-US" sz="1500" dirty="0">
                          <a:solidFill>
                            <a:schemeClr val="tx1"/>
                          </a:solidFill>
                        </a:rPr>
                        <a:t>Base case</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1.37x</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r>
              <a:tr h="438912">
                <a:tc>
                  <a:txBody>
                    <a:bodyPr/>
                    <a:lstStyle/>
                    <a:p>
                      <a:pPr indent="0" marL="0">
                        <a:buNone/>
                      </a:pPr>
                      <a:r>
                        <a:rPr lang="en-US" sz="1500" dirty="0">
                          <a:solidFill>
                            <a:schemeClr val="tx1"/>
                          </a:solidFill>
                        </a:rPr>
                        <a:t>Fuel ethanol price down 15%</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0.70x, short</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r>
              <a:tr h="438912">
                <a:tc>
                  <a:txBody>
                    <a:bodyPr/>
                    <a:lstStyle/>
                    <a:p>
                      <a:pPr indent="0" marL="0">
                        <a:buNone/>
                      </a:pPr>
                      <a:r>
                        <a:rPr lang="en-US" sz="1500" dirty="0">
                          <a:solidFill>
                            <a:schemeClr val="tx1"/>
                          </a:solidFill>
                        </a:rPr>
                        <a:t>Cane at US$60/t</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1.06x</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r>
              <a:tr h="438912">
                <a:tc>
                  <a:txBody>
                    <a:bodyPr/>
                    <a:lstStyle/>
                    <a:p>
                      <a:pPr indent="0" marL="0">
                        <a:buNone/>
                      </a:pPr>
                      <a:r>
                        <a:rPr lang="en-US" sz="1500" dirty="0">
                          <a:solidFill>
                            <a:schemeClr val="tx1"/>
                          </a:solidFill>
                        </a:rPr>
                        <a:t>Yield 70 L/t, not 76</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0.97x, short</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r>
              <a:tr h="438912">
                <a:tc>
                  <a:txBody>
                    <a:bodyPr/>
                    <a:lstStyle/>
                    <a:p>
                      <a:pPr indent="0" marL="0">
                        <a:buNone/>
                      </a:pPr>
                      <a:r>
                        <a:rPr lang="en-US" sz="1500" dirty="0">
                          <a:solidFill>
                            <a:schemeClr val="tx1"/>
                          </a:solidFill>
                        </a:rPr>
                        <a:t>Capital cost up 25%</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1.12x</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bg1"/>
                    </a:solidFill>
                  </a:tcPr>
                </a:tc>
              </a:tr>
              <a:tr h="438912">
                <a:tc>
                  <a:txBody>
                    <a:bodyPr/>
                    <a:lstStyle/>
                    <a:p>
                      <a:pPr indent="0" marL="0">
                        <a:buNone/>
                      </a:pPr>
                      <a:r>
                        <a:rPr lang="en-US" sz="1500" dirty="0">
                          <a:solidFill>
                            <a:schemeClr val="tx1"/>
                          </a:solidFill>
                        </a:rPr>
                        <a:t>With 25% sponsor equity</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accent6"/>
                    </a:solidFill>
                  </a:tcPr>
                </a:tc>
                <a:tc>
                  <a:txBody>
                    <a:bodyPr/>
                    <a:lstStyle/>
                    <a:p>
                      <a:pPr algn="r" indent="0" marL="0">
                        <a:buNone/>
                      </a:pPr>
                      <a:r>
                        <a:rPr lang="en-US" sz="1500" b="1" dirty="0">
                          <a:solidFill>
                            <a:schemeClr val="tx1"/>
                          </a:solidFill>
                        </a:rPr>
                        <a:t>1.82x</a:t>
                      </a:r>
                      <a:endParaRPr lang="en-US" sz="1500" dirty="0"/>
                    </a:p>
                  </a:txBody>
                  <a:tcPr marL="137160" marR="137160" marT="54864" marB="54864" anchor="ctr">
                    <a:lnL w="9525" cap="flat" cmpd="sng" algn="ctr">
                      <a:solidFill>
                        <a:srgbClr val="D9DED0"/>
                      </a:solidFill>
                      <a:prstDash val="solid"/>
                      <a:round/>
                      <a:headEnd type="none" w="med" len="med"/>
                      <a:tailEnd type="none" w="med" len="med"/>
                    </a:lnL>
                    <a:lnR w="9525" cap="flat" cmpd="sng" algn="ctr">
                      <a:solidFill>
                        <a:srgbClr val="D9DED0"/>
                      </a:solidFill>
                      <a:prstDash val="solid"/>
                      <a:round/>
                      <a:headEnd type="none" w="med" len="med"/>
                      <a:tailEnd type="none" w="med" len="med"/>
                    </a:lnR>
                    <a:lnT w="9525" cap="flat" cmpd="sng" algn="ctr">
                      <a:solidFill>
                        <a:srgbClr val="D9DED0"/>
                      </a:solidFill>
                      <a:prstDash val="solid"/>
                      <a:round/>
                      <a:headEnd type="none" w="med" len="med"/>
                      <a:tailEnd type="none" w="med" len="med"/>
                    </a:lnT>
                    <a:lnB w="9525" cap="flat" cmpd="sng" algn="ctr">
                      <a:solidFill>
                        <a:srgbClr val="D9DED0"/>
                      </a:solidFill>
                      <a:prstDash val="solid"/>
                      <a:round/>
                      <a:headEnd type="none" w="med" len="med"/>
                      <a:tailEnd type="none" w="med" len="med"/>
                    </a:lnB>
                    <a:solidFill>
                      <a:schemeClr val="accent6"/>
                    </a:solidFill>
                  </a:tcPr>
                </a:tc>
              </a:tr>
            </a:tbl>
          </a:graphicData>
        </a:graphic>
      </p:graphicFrame>
      <p:sp>
        <p:nvSpPr>
          <p:cNvPr id="5" name="Mitigants label"/>
          <p:cNvSpPr txBox="1"/>
          <p:nvPr/>
        </p:nvSpPr>
        <p:spPr>
          <a:xfrm>
            <a:off x="7031736" y="2286000"/>
            <a:ext cx="4346143"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PROTECT COVER</a:t>
            </a:r>
            <a:endParaRPr lang="en-US" sz="1200" dirty="0"/>
          </a:p>
        </p:txBody>
      </p:sp>
      <p:sp>
        <p:nvSpPr>
          <p:cNvPr id="6" name="Mitigant card 1"/>
          <p:cNvSpPr/>
          <p:nvPr/>
        </p:nvSpPr>
        <p:spPr>
          <a:xfrm>
            <a:off x="7031736" y="2697480"/>
            <a:ext cx="4346143" cy="585216"/>
          </a:xfrm>
          <a:prstGeom prst="roundRect">
            <a:avLst>
              <a:gd name="adj" fmla="val 25000"/>
            </a:avLst>
          </a:prstGeom>
          <a:solidFill>
            <a:schemeClr val="bg1"/>
          </a:solidFill>
          <a:ln w="9525">
            <a:solidFill>
              <a:schemeClr val="accent5"/>
            </a:solidFill>
            <a:prstDash val="solid"/>
          </a:ln>
        </p:spPr>
      </p:sp>
      <p:sp>
        <p:nvSpPr>
          <p:cNvPr id="7" name="Mitigant 1"/>
          <p:cNvSpPr txBox="1"/>
          <p:nvPr/>
        </p:nvSpPr>
        <p:spPr>
          <a:xfrm>
            <a:off x="7260336" y="2697480"/>
            <a:ext cx="3888943" cy="585216"/>
          </a:xfrm>
          <a:prstGeom prst="rect">
            <a:avLst/>
          </a:prstGeom>
          <a:noFill/>
          <a:ln/>
        </p:spPr>
        <p:txBody>
          <a:bodyPr wrap="square" lIns="0" tIns="0" rIns="0" bIns="0" rtlCol="0" anchor="ctr"/>
          <a:lstStyle/>
          <a:p>
            <a:pPr indent="0" marL="0">
              <a:buNone/>
            </a:pPr>
            <a:r>
              <a:rPr lang="en-US" sz="1500" dirty="0">
                <a:solidFill>
                  <a:schemeClr val="tx1"/>
                </a:solidFill>
              </a:rPr>
              <a:t>A price floor in a ZERA-linked offtake</a:t>
            </a:r>
            <a:endParaRPr lang="en-US" sz="1500" dirty="0"/>
          </a:p>
        </p:txBody>
      </p:sp>
      <p:sp>
        <p:nvSpPr>
          <p:cNvPr id="8" name="Mitigant card 2"/>
          <p:cNvSpPr/>
          <p:nvPr/>
        </p:nvSpPr>
        <p:spPr>
          <a:xfrm>
            <a:off x="7031736" y="3410712"/>
            <a:ext cx="4346143" cy="585216"/>
          </a:xfrm>
          <a:prstGeom prst="roundRect">
            <a:avLst>
              <a:gd name="adj" fmla="val 25000"/>
            </a:avLst>
          </a:prstGeom>
          <a:solidFill>
            <a:schemeClr val="bg1"/>
          </a:solidFill>
          <a:ln w="9525">
            <a:solidFill>
              <a:schemeClr val="accent5"/>
            </a:solidFill>
            <a:prstDash val="solid"/>
          </a:ln>
        </p:spPr>
      </p:sp>
      <p:sp>
        <p:nvSpPr>
          <p:cNvPr id="9" name="Mitigant 2"/>
          <p:cNvSpPr txBox="1"/>
          <p:nvPr/>
        </p:nvSpPr>
        <p:spPr>
          <a:xfrm>
            <a:off x="7260336" y="3410712"/>
            <a:ext cx="3888943" cy="585216"/>
          </a:xfrm>
          <a:prstGeom prst="rect">
            <a:avLst/>
          </a:prstGeom>
          <a:noFill/>
          <a:ln/>
        </p:spPr>
        <p:txBody>
          <a:bodyPr wrap="square" lIns="0" tIns="0" rIns="0" bIns="0" rtlCol="0" anchor="ctr"/>
          <a:lstStyle/>
          <a:p>
            <a:pPr indent="0" marL="0">
              <a:buNone/>
            </a:pPr>
            <a:r>
              <a:rPr lang="en-US" sz="1500" dirty="0">
                <a:solidFill>
                  <a:schemeClr val="tx1"/>
                </a:solidFill>
              </a:rPr>
              <a:t>A cane price that moves with the ethanol price</a:t>
            </a:r>
            <a:endParaRPr lang="en-US" sz="1500" dirty="0"/>
          </a:p>
        </p:txBody>
      </p:sp>
      <p:sp>
        <p:nvSpPr>
          <p:cNvPr id="10" name="Mitigant card 3"/>
          <p:cNvSpPr/>
          <p:nvPr/>
        </p:nvSpPr>
        <p:spPr>
          <a:xfrm>
            <a:off x="7031736" y="4123944"/>
            <a:ext cx="4346143" cy="585216"/>
          </a:xfrm>
          <a:prstGeom prst="roundRect">
            <a:avLst>
              <a:gd name="adj" fmla="val 25000"/>
            </a:avLst>
          </a:prstGeom>
          <a:solidFill>
            <a:schemeClr val="bg1"/>
          </a:solidFill>
          <a:ln w="9525">
            <a:solidFill>
              <a:schemeClr val="accent5"/>
            </a:solidFill>
            <a:prstDash val="solid"/>
          </a:ln>
        </p:spPr>
      </p:sp>
      <p:sp>
        <p:nvSpPr>
          <p:cNvPr id="11" name="Mitigant 3"/>
          <p:cNvSpPr txBox="1"/>
          <p:nvPr/>
        </p:nvSpPr>
        <p:spPr>
          <a:xfrm>
            <a:off x="7260336" y="4123944"/>
            <a:ext cx="3888943" cy="585216"/>
          </a:xfrm>
          <a:prstGeom prst="rect">
            <a:avLst/>
          </a:prstGeom>
          <a:noFill/>
          <a:ln/>
        </p:spPr>
        <p:txBody>
          <a:bodyPr wrap="square" lIns="0" tIns="0" rIns="0" bIns="0" rtlCol="0" anchor="ctr"/>
          <a:lstStyle/>
          <a:p>
            <a:pPr indent="0" marL="0">
              <a:buNone/>
            </a:pPr>
            <a:r>
              <a:rPr lang="en-US" sz="1500" dirty="0">
                <a:solidFill>
                  <a:schemeClr val="tx1"/>
                </a:solidFill>
              </a:rPr>
              <a:t>Fixed-price EPC contract with a yield guarantee</a:t>
            </a:r>
            <a:endParaRPr lang="en-US" sz="1500" dirty="0"/>
          </a:p>
        </p:txBody>
      </p:sp>
      <p:sp>
        <p:nvSpPr>
          <p:cNvPr id="12" name="Mitigant card 4"/>
          <p:cNvSpPr/>
          <p:nvPr/>
        </p:nvSpPr>
        <p:spPr>
          <a:xfrm>
            <a:off x="7031736" y="4837176"/>
            <a:ext cx="4346143" cy="585216"/>
          </a:xfrm>
          <a:prstGeom prst="roundRect">
            <a:avLst>
              <a:gd name="adj" fmla="val 25000"/>
            </a:avLst>
          </a:prstGeom>
          <a:solidFill>
            <a:schemeClr val="bg1"/>
          </a:solidFill>
          <a:ln w="9525">
            <a:solidFill>
              <a:schemeClr val="accent5"/>
            </a:solidFill>
            <a:prstDash val="solid"/>
          </a:ln>
        </p:spPr>
      </p:sp>
      <p:sp>
        <p:nvSpPr>
          <p:cNvPr id="13" name="Mitigant 4"/>
          <p:cNvSpPr txBox="1"/>
          <p:nvPr/>
        </p:nvSpPr>
        <p:spPr>
          <a:xfrm>
            <a:off x="7260336" y="4837176"/>
            <a:ext cx="3888943" cy="585216"/>
          </a:xfrm>
          <a:prstGeom prst="rect">
            <a:avLst/>
          </a:prstGeom>
          <a:noFill/>
          <a:ln/>
        </p:spPr>
        <p:txBody>
          <a:bodyPr wrap="square" lIns="0" tIns="0" rIns="0" bIns="0" rtlCol="0" anchor="ctr"/>
          <a:lstStyle/>
          <a:p>
            <a:pPr indent="0" marL="0">
              <a:buNone/>
            </a:pPr>
            <a:r>
              <a:rPr lang="en-US" sz="1500" dirty="0">
                <a:solidFill>
                  <a:schemeClr val="tx1"/>
                </a:solidFill>
              </a:rPr>
              <a:t>ENA at import parity; fuel ethanol as the swing product</a:t>
            </a:r>
            <a:endParaRPr lang="en-US" sz="1500" dirty="0"/>
          </a:p>
        </p:txBody>
      </p:sp>
      <p:sp>
        <p:nvSpPr>
          <p:cNvPr id="14" name="Footer note"/>
          <p:cNvSpPr txBox="1"/>
          <p:nvPr/>
        </p:nvSpPr>
        <p:spPr>
          <a:xfrm>
            <a:off x="813816" y="6309360"/>
            <a:ext cx="9649663" cy="274320"/>
          </a:xfrm>
          <a:prstGeom prst="rect">
            <a:avLst/>
          </a:prstGeom>
          <a:noFill/>
          <a:ln/>
        </p:spPr>
        <p:txBody>
          <a:bodyPr wrap="square" lIns="0" tIns="0" rIns="0" bIns="0" rtlCol="0" anchor="ctr"/>
          <a:lstStyle/>
          <a:p>
            <a:pPr indent="0" marL="0">
              <a:buNone/>
            </a:pPr>
            <a:r>
              <a:rPr lang="en-US" sz="1200" dirty="0">
                <a:solidFill>
                  <a:schemeClr val="accent3"/>
                </a:solidFill>
              </a:rPr>
              <a:t>Each case run through the full cash flow model · Prime Cane Group cash flow model v2</a:t>
            </a:r>
            <a:endParaRPr lang="en-US" sz="12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t"/>
          <a:lstStyle/>
          <a:p>
            <a:pPr algn="l" indent="0" marL="0">
              <a:buNone/>
            </a:pPr>
            <a:r>
              <a:rPr lang="en-US" sz="1200" b="1" spc="300" kern="0" dirty="0">
                <a:solidFill>
                  <a:schemeClr val="accent2"/>
                </a:solidFill>
              </a:rPr>
              <a:t>DEVELOPMENT IMPACT</a:t>
            </a: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The value stays in the Lowveld and in Zimbabwe</a:t>
            </a:r>
            <a:endParaRPr lang="en-US" sz="3600" dirty="0"/>
          </a:p>
        </p:txBody>
      </p:sp>
      <p:sp>
        <p:nvSpPr>
          <p:cNvPr id="4" name="Impact figure 1"/>
          <p:cNvSpPr txBox="1"/>
          <p:nvPr/>
        </p:nvSpPr>
        <p:spPr>
          <a:xfrm>
            <a:off x="813816" y="2423160"/>
            <a:ext cx="3338474" cy="914400"/>
          </a:xfrm>
          <a:prstGeom prst="rect">
            <a:avLst/>
          </a:prstGeom>
          <a:noFill/>
          <a:ln/>
        </p:spPr>
        <p:txBody>
          <a:bodyPr wrap="square" lIns="0" tIns="0" rIns="0" bIns="0" rtlCol="0" anchor="ctr"/>
          <a:lstStyle/>
          <a:p>
            <a:pPr indent="0" marL="0">
              <a:buNone/>
            </a:pPr>
            <a:r>
              <a:rPr lang="en-US" sz="4800" b="1" dirty="0">
                <a:solidFill>
                  <a:schemeClr val="accent2"/>
                </a:solidFill>
              </a:rPr>
              <a:t>US$21M</a:t>
            </a:r>
            <a:endParaRPr lang="en-US" sz="4800" dirty="0"/>
          </a:p>
        </p:txBody>
      </p:sp>
      <p:sp>
        <p:nvSpPr>
          <p:cNvPr id="5" name="Impact text 1"/>
          <p:cNvSpPr txBox="1"/>
          <p:nvPr/>
        </p:nvSpPr>
        <p:spPr>
          <a:xfrm>
            <a:off x="813816" y="3383280"/>
            <a:ext cx="3155594" cy="1005840"/>
          </a:xfrm>
          <a:prstGeom prst="rect">
            <a:avLst/>
          </a:prstGeom>
          <a:noFill/>
          <a:ln/>
        </p:spPr>
        <p:txBody>
          <a:bodyPr wrap="square" lIns="0" tIns="0" rIns="0" bIns="0" rtlCol="0" anchor="t"/>
          <a:lstStyle/>
          <a:p>
            <a:pPr indent="0" marL="0">
              <a:buNone/>
            </a:pPr>
            <a:r>
              <a:rPr lang="en-US" sz="1600" dirty="0">
                <a:solidFill>
                  <a:schemeClr val="accent4"/>
                </a:solidFill>
              </a:rPr>
              <a:t>paid to outgrowers for cane every year, with a shorter haul</a:t>
            </a:r>
            <a:endParaRPr lang="en-US" sz="1600" dirty="0"/>
          </a:p>
        </p:txBody>
      </p:sp>
      <p:sp>
        <p:nvSpPr>
          <p:cNvPr id="6" name="Impact figure 2"/>
          <p:cNvSpPr txBox="1"/>
          <p:nvPr/>
        </p:nvSpPr>
        <p:spPr>
          <a:xfrm>
            <a:off x="4426610" y="2423160"/>
            <a:ext cx="3338474" cy="914400"/>
          </a:xfrm>
          <a:prstGeom prst="rect">
            <a:avLst/>
          </a:prstGeom>
          <a:noFill/>
          <a:ln/>
        </p:spPr>
        <p:txBody>
          <a:bodyPr wrap="square" lIns="0" tIns="0" rIns="0" bIns="0" rtlCol="0" anchor="ctr"/>
          <a:lstStyle/>
          <a:p>
            <a:pPr indent="0" marL="0">
              <a:buNone/>
            </a:pPr>
            <a:r>
              <a:rPr lang="en-US" sz="4800" b="1" dirty="0">
                <a:solidFill>
                  <a:schemeClr val="accent2"/>
                </a:solidFill>
              </a:rPr>
              <a:t>23 ML</a:t>
            </a:r>
            <a:endParaRPr lang="en-US" sz="4800" dirty="0"/>
          </a:p>
        </p:txBody>
      </p:sp>
      <p:sp>
        <p:nvSpPr>
          <p:cNvPr id="7" name="Impact text 2"/>
          <p:cNvSpPr txBox="1"/>
          <p:nvPr/>
        </p:nvSpPr>
        <p:spPr>
          <a:xfrm>
            <a:off x="4426610" y="3383280"/>
            <a:ext cx="3155594" cy="1005840"/>
          </a:xfrm>
          <a:prstGeom prst="rect">
            <a:avLst/>
          </a:prstGeom>
          <a:noFill/>
          <a:ln/>
        </p:spPr>
        <p:txBody>
          <a:bodyPr wrap="square" lIns="0" tIns="0" rIns="0" bIns="0" rtlCol="0" anchor="t"/>
          <a:lstStyle/>
          <a:p>
            <a:pPr indent="0" marL="0">
              <a:buNone/>
            </a:pPr>
            <a:r>
              <a:rPr lang="en-US" sz="1600" dirty="0">
                <a:solidFill>
                  <a:schemeClr val="accent4"/>
                </a:solidFill>
              </a:rPr>
              <a:t>of imported petrol displaced in the blend each year, saving foreign currency</a:t>
            </a:r>
            <a:endParaRPr lang="en-US" sz="1600" dirty="0"/>
          </a:p>
        </p:txBody>
      </p:sp>
      <p:sp>
        <p:nvSpPr>
          <p:cNvPr id="8" name="Impact figure 3"/>
          <p:cNvSpPr txBox="1"/>
          <p:nvPr/>
        </p:nvSpPr>
        <p:spPr>
          <a:xfrm>
            <a:off x="8039405" y="2423160"/>
            <a:ext cx="3338474" cy="914400"/>
          </a:xfrm>
          <a:prstGeom prst="rect">
            <a:avLst/>
          </a:prstGeom>
          <a:noFill/>
          <a:ln/>
        </p:spPr>
        <p:txBody>
          <a:bodyPr wrap="square" lIns="0" tIns="0" rIns="0" bIns="0" rtlCol="0" anchor="ctr"/>
          <a:lstStyle/>
          <a:p>
            <a:pPr indent="0" marL="0">
              <a:buNone/>
            </a:pPr>
            <a:r>
              <a:rPr lang="en-US" sz="4800" b="1" dirty="0">
                <a:solidFill>
                  <a:schemeClr val="accent2"/>
                </a:solidFill>
              </a:rPr>
              <a:t>~100</a:t>
            </a:r>
            <a:endParaRPr lang="en-US" sz="4800" dirty="0"/>
          </a:p>
        </p:txBody>
      </p:sp>
      <p:sp>
        <p:nvSpPr>
          <p:cNvPr id="9" name="Impact text 3"/>
          <p:cNvSpPr txBox="1"/>
          <p:nvPr/>
        </p:nvSpPr>
        <p:spPr>
          <a:xfrm>
            <a:off x="8039405" y="3383280"/>
            <a:ext cx="3155594" cy="1005840"/>
          </a:xfrm>
          <a:prstGeom prst="rect">
            <a:avLst/>
          </a:prstGeom>
          <a:noFill/>
          <a:ln/>
        </p:spPr>
        <p:txBody>
          <a:bodyPr wrap="square" lIns="0" tIns="0" rIns="0" bIns="0" rtlCol="0" anchor="t"/>
          <a:lstStyle/>
          <a:p>
            <a:pPr indent="0" marL="0">
              <a:buNone/>
            </a:pPr>
            <a:r>
              <a:rPr lang="en-US" sz="1600" dirty="0">
                <a:solidFill>
                  <a:schemeClr val="accent4"/>
                </a:solidFill>
              </a:rPr>
              <a:t>permanent plant jobs, plus about 50 seasonal roles each crushing season</a:t>
            </a:r>
            <a:endParaRPr lang="en-US" sz="1600" dirty="0"/>
          </a:p>
        </p:txBody>
      </p:sp>
      <p:sp>
        <p:nvSpPr>
          <p:cNvPr id="10" name="Takeaway"/>
          <p:cNvSpPr txBox="1"/>
          <p:nvPr/>
        </p:nvSpPr>
        <p:spPr>
          <a:xfrm>
            <a:off x="813816" y="4846320"/>
            <a:ext cx="10564063" cy="548640"/>
          </a:xfrm>
          <a:prstGeom prst="rect">
            <a:avLst/>
          </a:prstGeom>
          <a:noFill/>
          <a:ln/>
        </p:spPr>
        <p:txBody>
          <a:bodyPr wrap="square" lIns="0" tIns="0" rIns="0" bIns="0" rtlCol="0" anchor="t"/>
          <a:lstStyle/>
          <a:p>
            <a:pPr indent="0" marL="0">
              <a:buNone/>
            </a:pPr>
            <a:r>
              <a:rPr lang="en-US" sz="1800" dirty="0">
                <a:solidFill>
                  <a:schemeClr val="bg1"/>
                </a:solidFill>
              </a:rPr>
              <a:t>Renewable bagasse power, zero liquid discharge, and local ENA in place of imported alcohol.</a:t>
            </a:r>
            <a:endParaRPr lang="en-US" sz="1800" dirty="0"/>
          </a:p>
        </p:txBody>
      </p:sp>
      <p:sp>
        <p:nvSpPr>
          <p:cNvPr id="11" name="Footer note"/>
          <p:cNvSpPr txBox="1"/>
          <p:nvPr/>
        </p:nvSpPr>
        <p:spPr>
          <a:xfrm>
            <a:off x="813816" y="6309360"/>
            <a:ext cx="9649663" cy="274320"/>
          </a:xfrm>
          <a:prstGeom prst="rect">
            <a:avLst/>
          </a:prstGeom>
          <a:noFill/>
          <a:ln/>
        </p:spPr>
        <p:txBody>
          <a:bodyPr wrap="square" lIns="0" tIns="0" rIns="0" bIns="0" rtlCol="0" anchor="ctr"/>
          <a:lstStyle/>
          <a:p>
            <a:pPr indent="0" marL="0">
              <a:buNone/>
            </a:pPr>
            <a:r>
              <a:rPr lang="en-US" sz="1200" dirty="0">
                <a:solidFill>
                  <a:schemeClr val="accent4"/>
                </a:solidFill>
              </a:rPr>
              <a:t>Source: Prime Cane Group cash flow model v2; jobs benchmarked on the Prime Cane Distillers plan</a:t>
            </a:r>
            <a:endParaRPr lang="en-US" sz="1200" dirty="0"/>
          </a:p>
        </p:txBody>
      </p:sp>
      <p:sp>
        <p:nvSpPr>
          <p:cNvPr id="25" name="Slide Number Placeholder 0"/>
          <p:cNvSpPr>
            <a:spLocks noGrp="1"/>
          </p:cNvSpPr>
          <p:nvPr>
            <p:ph type="sldNum" sz="quarter" idx="4294967295"/>
          </p:nvPr>
        </p:nvSpPr>
        <p:spPr>
          <a:xfrm>
            <a:off x="10829239"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t"/>
          <a:lstStyle/>
          <a:p>
            <a:pPr algn="l" indent="0" marL="0">
              <a:buNone/>
            </a:pPr>
            <a:r>
              <a:rPr lang="en-US" sz="1200" b="1" spc="300" kern="0" dirty="0">
                <a:solidFill>
                  <a:schemeClr val="accent2"/>
                </a:solidFill>
              </a:rPr>
              <a:t>OUR ASK</a:t>
            </a:r>
            <a:endParaRPr lang="en-US" sz="1200" dirty="0"/>
          </a:p>
        </p:txBody>
      </p:sp>
      <p:sp>
        <p:nvSpPr>
          <p:cNvPr id="3" name="Text 0"/>
          <p:cNvSpPr/>
          <p:nvPr>
            <p:ph idx="101" type="title" hasCustomPrompt="1"/>
          </p:nvPr>
        </p:nvSpPr>
        <p:spPr>
          <a:xfrm>
            <a:off x="813816" y="932688"/>
            <a:ext cx="9718938" cy="118872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Partner with us to reach financial close by Q1 2027</a:t>
            </a:r>
            <a:endParaRPr lang="en-US" sz="3600" dirty="0"/>
          </a:p>
        </p:txBody>
      </p:sp>
      <p:sp>
        <p:nvSpPr>
          <p:cNvPr id="4" name="Bank card"/>
          <p:cNvSpPr/>
          <p:nvPr/>
        </p:nvSpPr>
        <p:spPr>
          <a:xfrm>
            <a:off x="813816" y="2286000"/>
            <a:ext cx="5144872" cy="2743200"/>
          </a:xfrm>
          <a:prstGeom prst="roundRect">
            <a:avLst>
              <a:gd name="adj" fmla="val 5333"/>
            </a:avLst>
          </a:prstGeom>
          <a:solidFill>
            <a:schemeClr val="bg2"/>
          </a:solidFill>
          <a:ln/>
        </p:spPr>
      </p:sp>
      <p:sp>
        <p:nvSpPr>
          <p:cNvPr id="5" name="Bank heading"/>
          <p:cNvSpPr txBox="1"/>
          <p:nvPr/>
        </p:nvSpPr>
        <p:spPr>
          <a:xfrm>
            <a:off x="1133856" y="2514600"/>
            <a:ext cx="4504792" cy="411480"/>
          </a:xfrm>
          <a:prstGeom prst="rect">
            <a:avLst/>
          </a:prstGeom>
          <a:noFill/>
          <a:ln/>
        </p:spPr>
        <p:txBody>
          <a:bodyPr wrap="square" lIns="0" tIns="0" rIns="0" bIns="0" rtlCol="0" anchor="ctr"/>
          <a:lstStyle/>
          <a:p>
            <a:pPr indent="0" marL="0">
              <a:buNone/>
            </a:pPr>
            <a:r>
              <a:rPr lang="en-US" sz="2000" b="1" dirty="0">
                <a:solidFill>
                  <a:schemeClr val="accent1"/>
                </a:solidFill>
              </a:rPr>
              <a:t>From Afreximbank</a:t>
            </a:r>
            <a:endParaRPr lang="en-US" sz="2000" dirty="0"/>
          </a:p>
        </p:txBody>
      </p:sp>
      <p:sp>
        <p:nvSpPr>
          <p:cNvPr id="6" name="Bank amount"/>
          <p:cNvSpPr txBox="1"/>
          <p:nvPr/>
        </p:nvSpPr>
        <p:spPr>
          <a:xfrm>
            <a:off x="1133856" y="3017520"/>
            <a:ext cx="4504792" cy="777240"/>
          </a:xfrm>
          <a:prstGeom prst="rect">
            <a:avLst/>
          </a:prstGeom>
          <a:noFill/>
          <a:ln/>
        </p:spPr>
        <p:txBody>
          <a:bodyPr wrap="square" lIns="0" tIns="0" rIns="0" bIns="0" rtlCol="0" anchor="ctr"/>
          <a:lstStyle/>
          <a:p>
            <a:pPr indent="0" marL="0">
              <a:buNone/>
            </a:pPr>
            <a:r>
              <a:rPr lang="en-US" sz="4000" b="1" dirty="0">
                <a:solidFill>
                  <a:schemeClr val="tx1"/>
                </a:solidFill>
              </a:rPr>
              <a:t>US$20.0M</a:t>
            </a:r>
            <a:endParaRPr lang="en-US" sz="4000" dirty="0"/>
          </a:p>
        </p:txBody>
      </p:sp>
      <p:sp>
        <p:nvSpPr>
          <p:cNvPr id="7" name="Bank terms"/>
          <p:cNvSpPr txBox="1"/>
          <p:nvPr/>
        </p:nvSpPr>
        <p:spPr>
          <a:xfrm>
            <a:off x="1133856" y="3931920"/>
            <a:ext cx="4504792" cy="1280160"/>
          </a:xfrm>
          <a:prstGeom prst="rect">
            <a:avLst/>
          </a:prstGeom>
          <a:noFill/>
          <a:ln/>
        </p:spPr>
        <p:txBody>
          <a:bodyPr wrap="square" lIns="0" tIns="0" rIns="0" bIns="0" rtlCol="0" anchor="t"/>
          <a:lstStyle/>
          <a:p>
            <a:pPr indent="0" marL="0">
              <a:buNone/>
            </a:pPr>
            <a:r>
              <a:rPr lang="en-US" sz="1600" dirty="0">
                <a:solidFill>
                  <a:schemeClr val="accent3"/>
                </a:solidFill>
              </a:rPr>
              <a:t>9-year term loan · 36 months’ principal grace · 12 semi-annual instalments · Government guarantee</a:t>
            </a:r>
            <a:endParaRPr lang="en-US" sz="1600" dirty="0"/>
          </a:p>
        </p:txBody>
      </p:sp>
      <p:sp>
        <p:nvSpPr>
          <p:cNvPr id="8" name="Ministry card"/>
          <p:cNvSpPr/>
          <p:nvPr/>
        </p:nvSpPr>
        <p:spPr>
          <a:xfrm>
            <a:off x="6233008" y="2286000"/>
            <a:ext cx="5144872" cy="2743200"/>
          </a:xfrm>
          <a:prstGeom prst="roundRect">
            <a:avLst>
              <a:gd name="adj" fmla="val 5333"/>
            </a:avLst>
          </a:prstGeom>
          <a:solidFill>
            <a:schemeClr val="bg2"/>
          </a:solidFill>
          <a:ln/>
        </p:spPr>
      </p:sp>
      <p:sp>
        <p:nvSpPr>
          <p:cNvPr id="9" name="Ministry heading"/>
          <p:cNvSpPr txBox="1"/>
          <p:nvPr/>
        </p:nvSpPr>
        <p:spPr>
          <a:xfrm>
            <a:off x="6553048" y="2514600"/>
            <a:ext cx="4504792" cy="411480"/>
          </a:xfrm>
          <a:prstGeom prst="rect">
            <a:avLst/>
          </a:prstGeom>
          <a:noFill/>
          <a:ln/>
        </p:spPr>
        <p:txBody>
          <a:bodyPr wrap="square" lIns="0" tIns="0" rIns="0" bIns="0" rtlCol="0" anchor="ctr"/>
          <a:lstStyle/>
          <a:p>
            <a:pPr indent="0" marL="0">
              <a:buNone/>
            </a:pPr>
            <a:r>
              <a:rPr lang="en-US" sz="2000" b="1" dirty="0">
                <a:solidFill>
                  <a:schemeClr val="accent1"/>
                </a:solidFill>
              </a:rPr>
              <a:t>From the Ministry</a:t>
            </a:r>
            <a:endParaRPr lang="en-US" sz="2000" dirty="0"/>
          </a:p>
        </p:txBody>
      </p:sp>
      <p:sp>
        <p:nvSpPr>
          <p:cNvPr id="10" name="Ministry asks"/>
          <p:cNvSpPr txBox="1"/>
          <p:nvPr/>
        </p:nvSpPr>
        <p:spPr>
          <a:xfrm>
            <a:off x="6553048" y="3063240"/>
            <a:ext cx="4504792" cy="1828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Endorse the project and support the guarantee application</a:t>
            </a:r>
            <a:endParaRPr lang="en-US" sz="1600" dirty="0"/>
          </a:p>
          <a:p>
            <a:pPr marL="342900" indent="-342900">
              <a:spcAft>
                <a:spcPts val="1000"/>
              </a:spcAft>
              <a:buSzPct val="100000"/>
              <a:buChar char="•"/>
            </a:pPr>
            <a:r>
              <a:rPr lang="en-US" sz="1600" dirty="0">
                <a:solidFill>
                  <a:schemeClr val="tx1"/>
                </a:solidFill>
              </a:rPr>
              <a:t>Back an outgrower cane supply framework at Mkwasine</a:t>
            </a:r>
            <a:endParaRPr lang="en-US" sz="1600" dirty="0"/>
          </a:p>
          <a:p>
            <a:pPr marL="342900" indent="-342900">
              <a:spcAft>
                <a:spcPts val="1000"/>
              </a:spcAft>
              <a:buSzPct val="100000"/>
              <a:buChar char="•"/>
            </a:pPr>
            <a:r>
              <a:rPr lang="en-US" sz="1600" dirty="0">
                <a:solidFill>
                  <a:schemeClr val="tx1"/>
                </a:solidFill>
              </a:rPr>
              <a:t>Help secure the ZINWA water permit and land tenure</a:t>
            </a:r>
            <a:endParaRPr lang="en-US" sz="1600" dirty="0"/>
          </a:p>
        </p:txBody>
      </p:sp>
      <p:sp>
        <p:nvSpPr>
          <p:cNvPr id="11" name="Footer note"/>
          <p:cNvSpPr txBox="1"/>
          <p:nvPr/>
        </p:nvSpPr>
        <p:spPr>
          <a:xfrm>
            <a:off x="813816" y="6309360"/>
            <a:ext cx="9649663" cy="274320"/>
          </a:xfrm>
          <a:prstGeom prst="rect">
            <a:avLst/>
          </a:prstGeom>
          <a:noFill/>
          <a:ln/>
        </p:spPr>
        <p:txBody>
          <a:bodyPr wrap="square" lIns="0" tIns="0" rIns="0" bIns="0" rtlCol="0" anchor="ctr"/>
          <a:lstStyle/>
          <a:p>
            <a:pPr indent="0" marL="0">
              <a:buNone/>
            </a:pPr>
            <a:r>
              <a:rPr lang="en-US" sz="1200" dirty="0">
                <a:solidFill>
                  <a:schemeClr val="accent4"/>
                </a:solidFill>
              </a:rPr>
              <a:t>Martin Mufanebadza, Managing Director · martinm@primecane.com · Prime Cane Group (Private) Limited</a:t>
            </a:r>
            <a:endParaRPr lang="en-US" sz="1200" dirty="0"/>
          </a:p>
        </p:txBody>
      </p:sp>
    </p:spTree>
  </p:cSld>
  <p:clrMapOvr>
    <a:masterClrMapping/>
  </p:clrMapOvr>
</p:sld>
</file>

<file path=ppt/theme/theme1.xml><?xml version="1.0" encoding="utf-8"?>
<a:theme xmlns:a="http://schemas.openxmlformats.org/drawingml/2006/main" name="Prime Cane">
  <a:themeElements>
    <a:clrScheme name="Prime Cane">
      <a:dk1>
        <a:srgbClr val="14231A"/>
      </a:dk1>
      <a:lt1>
        <a:srgbClr val="FDFDF9"/>
      </a:lt1>
      <a:dk2>
        <a:srgbClr val="0F2E1A"/>
      </a:dk2>
      <a:lt2>
        <a:srgbClr val="F6F7F0"/>
      </a:lt2>
      <a:accent1>
        <a:srgbClr val="184D2A"/>
      </a:accent1>
      <a:accent2>
        <a:srgbClr val="D7DF23"/>
      </a:accent2>
      <a:accent3>
        <a:srgbClr val="4A5A4F"/>
      </a:accent3>
      <a:accent4>
        <a:srgbClr val="C9D8CC"/>
      </a:accent4>
      <a:accent5>
        <a:srgbClr val="D9DED0"/>
      </a:accent5>
      <a:accent6>
        <a:srgbClr val="ECEFE3"/>
      </a:accent6>
      <a:hlink>
        <a:srgbClr val="184D2A"/>
      </a:hlink>
      <a:folHlink>
        <a:srgbClr val="4A5A4F"/>
      </a:folHlink>
    </a:clrScheme>
    <a:fontScheme name="Prime Ca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Prime Cane Group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 Cane Group: Phase 1 Fuel Ethanol and ENA Plant</dc:title>
  <dc:subject>PptxGenJS Presentation</dc:subject>
  <dc:creator>Prime Cane Group</dc:creator>
  <cp:lastModifiedBy>Prime Cane Group</cp:lastModifiedBy>
  <cp:revision>1</cp:revision>
  <dcterms:created xsi:type="dcterms:W3CDTF">2026-10-26T18:31:11Z</dcterms:created>
  <dcterms:modified xsi:type="dcterms:W3CDTF">2026-10-26T18:31:11Z</dcterms:modified>
</cp:coreProperties>
</file>